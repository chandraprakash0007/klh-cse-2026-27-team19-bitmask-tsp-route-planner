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64" r:id="rId4"/>
    <p:sldId id="258" r:id="rId5"/>
    <p:sldId id="261" r:id="rId6"/>
    <p:sldId id="265" r:id="rId7"/>
    <p:sldId id="259" r:id="rId8"/>
    <p:sldId id="267" r:id="rId9"/>
    <p:sldId id="266" r:id="rId10"/>
    <p:sldId id="260" r:id="rId11"/>
    <p:sldId id="262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5B1BC09-D557-492E-9C5D-E4CF9E078DE2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EED5C5B-9EF4-44F9-8A5E-F9CA765F3D6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2">
            <a:lumMod val="20000"/>
            <a:lumOff val="80000"/>
            <a:alpha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11" descr="KL University Hyderabad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4450"/>
            <a:ext cx="2101850" cy="900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7"/>
          <p:cNvSpPr/>
          <p:nvPr userDrawn="1"/>
        </p:nvSpPr>
        <p:spPr>
          <a:xfrm>
            <a:off x="0" y="6811963"/>
            <a:ext cx="12192000" cy="46037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46038"/>
          </a:xfrm>
          <a:prstGeom prst="rect">
            <a:avLst/>
          </a:prstGeom>
          <a:solidFill>
            <a:srgbClr val="BA253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pic>
        <p:nvPicPr>
          <p:cNvPr id="10" name="Picture 6" descr="Background pattern&#10;&#10;Description automatically generated"/>
          <p:cNvPicPr>
            <a:picLocks noChangeAspect="1" noChangeArrowheads="1"/>
          </p:cNvPicPr>
          <p:nvPr userDrawn="1"/>
        </p:nvPicPr>
        <p:blipFill>
          <a:blip r:embed="rId1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3003550" cy="3003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1938" y="1027775"/>
            <a:ext cx="9144000" cy="2316702"/>
          </a:xfrm>
        </p:spPr>
        <p:txBody>
          <a:bodyPr wrap="square"/>
          <a:lstStyle/>
          <a:p>
            <a:pPr algn="ctr"/>
            <a:r>
              <a:rPr sz="2800" b="1"/>
              <a:t>Data Structures and Algorithms -3 (25CS2103E)</a:t>
            </a:r>
            <a:br/>
            <a:br/>
            <a:r>
              <a:rPr sz="2800" b="1"/>
              <a:t>Bitmask TSP Route Planner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58779" y="3513524"/>
            <a:ext cx="9641305" cy="1396014"/>
          </a:xfrm>
        </p:spPr>
        <p:txBody>
          <a:bodyPr wrap="square"/>
          <a:lstStyle/>
          <a:p>
            <a:pPr algn="ctr"/>
            <a:r>
              <a:rPr sz="1800" b="0" dirty="0"/>
              <a:t>Team Members</a:t>
            </a:r>
            <a:br>
              <a:rPr dirty="0"/>
            </a:br>
            <a:r>
              <a:rPr sz="1800" b="0" dirty="0"/>
              <a:t>Name: </a:t>
            </a:r>
            <a:r>
              <a:rPr lang="en-US" sz="1800" b="0" dirty="0"/>
              <a:t>Chandra Prakash Verma</a:t>
            </a:r>
            <a:r>
              <a:rPr sz="1800" b="0" dirty="0"/>
              <a:t>  Roll No.: </a:t>
            </a:r>
            <a:r>
              <a:rPr lang="en-US" sz="1800" b="0" dirty="0"/>
              <a:t>2500031353</a:t>
            </a:r>
          </a:p>
          <a:p>
            <a:pPr algn="ctr"/>
            <a:r>
              <a:rPr sz="1800" b="0" dirty="0"/>
              <a:t>Name: </a:t>
            </a:r>
            <a:r>
              <a:rPr lang="en-US" sz="1800" b="0" dirty="0"/>
              <a:t>Jashwanth  </a:t>
            </a:r>
            <a:r>
              <a:rPr sz="1800" b="0" dirty="0"/>
              <a:t>Roll No.: </a:t>
            </a:r>
            <a:r>
              <a:rPr lang="en-US" sz="1800" dirty="0"/>
              <a:t>2520030579</a:t>
            </a:r>
          </a:p>
          <a:p>
            <a:pPr algn="ctr"/>
            <a:r>
              <a:rPr lang="en-US" sz="1800" dirty="0"/>
              <a:t>Name: Krishna Vamshi  Roll no.:2520030344</a:t>
            </a:r>
            <a:br>
              <a:rPr dirty="0"/>
            </a:br>
            <a:br>
              <a:rPr dirty="0"/>
            </a:br>
            <a:r>
              <a:rPr sz="1800" b="0" dirty="0"/>
              <a:t>Under the Esteemed Guidance of</a:t>
            </a:r>
            <a:br>
              <a:rPr dirty="0"/>
            </a:br>
            <a:r>
              <a:rPr lang="en-US" sz="1800" b="0" dirty="0" err="1"/>
              <a:t>Dr.Anuradha,Professor,CSE</a:t>
            </a:r>
            <a:br>
              <a:rPr dirty="0"/>
            </a:br>
            <a:endParaRPr sz="18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C70C049-38C4-198F-3181-AACE07DE24AE}"/>
              </a:ext>
            </a:extLst>
          </p:cNvPr>
          <p:cNvSpPr txBox="1"/>
          <p:nvPr/>
        </p:nvSpPr>
        <p:spPr>
          <a:xfrm>
            <a:off x="3736109" y="806448"/>
            <a:ext cx="6936386" cy="58355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 algn="l" rtl="0" eaLnBrk="1" fontAlgn="t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sz="2000" b="0"/>
              <a:t>Abstract</a:t>
            </a:r>
            <a:br/>
            <a:r>
              <a:rPr sz="2000" b="0"/>
              <a:t>Introduction</a:t>
            </a:r>
            <a:br/>
            <a:r>
              <a:rPr sz="2000" b="0"/>
              <a:t>Literature Survey</a:t>
            </a:r>
            <a:br/>
            <a:r>
              <a:rPr sz="2000" b="0"/>
              <a:t>Problem Statement and Objectives</a:t>
            </a:r>
            <a:br/>
            <a:r>
              <a:rPr sz="2000" b="0"/>
              <a:t>Flow Chart</a:t>
            </a:r>
            <a:br/>
            <a:r>
              <a:rPr sz="2000" b="0"/>
              <a:t>Results</a:t>
            </a:r>
            <a:br/>
            <a:r>
              <a:rPr sz="2000" b="0"/>
              <a:t>Hardware and Software Requirements</a:t>
            </a:r>
            <a:br/>
            <a:r>
              <a:rPr sz="2000" b="0"/>
              <a:t>Conclusion</a:t>
            </a:r>
            <a:br/>
            <a:r>
              <a:rPr sz="2000" b="0"/>
              <a:t>Future Scope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EAC2F32-24D5-FDE9-EB0F-31C7733C95E6}"/>
              </a:ext>
            </a:extLst>
          </p:cNvPr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A499C0-FC38-6642-1E16-B8CFFC9C9314}"/>
              </a:ext>
            </a:extLst>
          </p:cNvPr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sz="2800" b="1"/>
              <a:t>Contents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2167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Abstract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332720" cy="429768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1900" b="0"/>
              <a:t>Bitmask TSP Route Planner is a route planning application that solves the Travelling Salesman Problem (TSP) using Bitmask Dynamic Programming. It takes a distance matrix as input and finds the minimum-cost tour that visits every city exactly once and returns to the starting city.</a:t>
            </a:r>
            <a:br/>
            <a:br/>
            <a:r>
              <a:rPr sz="1900" b="0"/>
              <a:t>Bitmasking represents the visited cities, while dynamic programming stores previously calculated results to avoid repeated work. For n ≤ 20 cities, the approach runs in O(2ⁿ × n²) time and O(2ⁿ × n) space.</a:t>
            </a:r>
            <a:br/>
            <a:br/>
            <a:r>
              <a:rPr sz="1900" b="0"/>
              <a:t>The application displays the optimal path, total travel cost, and a visual representation of the route.</a:t>
            </a:r>
          </a:p>
        </p:txBody>
      </p:sp>
    </p:spTree>
    <p:extLst>
      <p:ext uri="{BB962C8B-B14F-4D97-AF65-F5344CB8AC3E}">
        <p14:creationId xmlns:p14="http://schemas.microsoft.com/office/powerpoint/2010/main" val="1672422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424160" cy="484632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The Travelling Salesman Problem (TSP) asks for the cheapest tour through all cities exactly once and back to the start.</a:t>
            </a:r>
          </a:p>
          <a:p>
            <a:pPr>
              <a:spcAft>
                <a:spcPts val="800"/>
              </a:spcAft>
              <a:defRPr sz="1900"/>
            </a:pPr>
            <a:r>
              <a:t>Checking every possible route takes O(n!), which becomes expensive as the number of cities grows.</a:t>
            </a:r>
          </a:p>
          <a:p>
            <a:pPr>
              <a:spcAft>
                <a:spcPts val="800"/>
              </a:spcAft>
              <a:defRPr sz="1900"/>
            </a:pPr>
            <a:r>
              <a:t>Bitmask Dynamic Programming stores the set of visited cities as a bitmask.</a:t>
            </a:r>
          </a:p>
          <a:p>
            <a:pPr>
              <a:spcAft>
                <a:spcPts val="800"/>
              </a:spcAft>
              <a:defRPr sz="1900"/>
            </a:pPr>
            <a:r>
              <a:t>The DP state uses: current city + set of visited cities.</a:t>
            </a:r>
          </a:p>
          <a:p>
            <a:pPr>
              <a:spcAft>
                <a:spcPts val="800"/>
              </a:spcAft>
              <a:defRPr sz="1900"/>
            </a:pPr>
            <a:r>
              <a:t>The application reconstructs the minimum-cost route and shows it visually.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Literature Survey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34440"/>
          <a:ext cx="1078991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754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97280">
                <a:tc>
                  <a:txBody>
                    <a:bodyPr/>
                    <a:lstStyle/>
                    <a:p>
                      <a:r>
                        <a:rPr sz="1600" b="1"/>
                        <a:t>Approach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Main Idea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1"/>
                        <a:t>Limitation / Advantage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sz="1500" b="0"/>
                        <a:t>Brute Force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Checks all possible tours.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Exact, but O(n!) and becomes very slow.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sz="1500" b="0"/>
                        <a:t>Nearest Neighbor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Repeatedly chooses the nearest unvisited city.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Fast, but does not guarantee the optimal tour.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r>
                        <a:rPr sz="1500" b="0"/>
                        <a:t>Bitmask 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Stores results for city + visited-set states.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500" b="0"/>
                        <a:t>Exact solution with O(2ⁿ × n²); suitable for n ≤ 20.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2660072" y="221673"/>
            <a:ext cx="6723625" cy="65579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/>
        </p:nvSpPr>
        <p:spPr>
          <a:xfrm>
            <a:off x="2660072" y="29269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Problem Statement and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143000"/>
            <a:ext cx="10515600" cy="242316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Problem Statement: Find the minimum-cost tour for a given distance matrix, visit every city exactly once, and return to the starting city.</a:t>
            </a:r>
          </a:p>
          <a:p>
            <a:pPr>
              <a:spcAft>
                <a:spcPts val="800"/>
              </a:spcAft>
              <a:defRPr sz="1900"/>
            </a:pPr>
            <a:r>
              <a:t>Input: Distance Matrix</a:t>
            </a:r>
          </a:p>
          <a:p>
            <a:pPr>
              <a:spcAft>
                <a:spcPts val="800"/>
              </a:spcAft>
              <a:defRPr sz="1900"/>
            </a:pPr>
            <a:r>
              <a:t>Output: Minimum Tour</a:t>
            </a:r>
          </a:p>
          <a:p>
            <a:pPr>
              <a:spcAft>
                <a:spcPts val="800"/>
              </a:spcAft>
              <a:defRPr sz="1900"/>
            </a:pPr>
            <a:r>
              <a:t>Constraint: n ≤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03320"/>
            <a:ext cx="105156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100" b="1"/>
              <a:t>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4160520"/>
            <a:ext cx="10241280" cy="164592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Use Bitmask Dynamic Programming to find the exact minimum tour.</a:t>
            </a:r>
          </a:p>
          <a:p>
            <a:pPr>
              <a:spcAft>
                <a:spcPts val="800"/>
              </a:spcAft>
              <a:defRPr sz="1800"/>
            </a:pPr>
            <a:r>
              <a:t>Display the optimal path and total travel cost.</a:t>
            </a:r>
          </a:p>
          <a:p>
            <a:pPr>
              <a:spcAft>
                <a:spcPts val="800"/>
              </a:spcAft>
              <a:defRPr sz="1800"/>
            </a:pPr>
            <a:r>
              <a:t>Provide a simple visualization of the generated route.</a:t>
            </a:r>
          </a:p>
        </p:txBody>
      </p:sp>
    </p:spTree>
    <p:extLst>
      <p:ext uri="{BB962C8B-B14F-4D97-AF65-F5344CB8AC3E}">
        <p14:creationId xmlns:p14="http://schemas.microsoft.com/office/powerpoint/2010/main" val="34410266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Flow Chart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0574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/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057400"/>
            <a:ext cx="20574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/>
              <a:t>Input Distance Matrix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971800"/>
            <a:ext cx="20574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/>
              <a:t>Create DP States</a:t>
            </a:r>
            <a:br/>
            <a:r>
              <a:rPr sz="1400" b="0"/>
              <a:t>with Bitmask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3886200"/>
            <a:ext cx="20574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/>
              <a:t>Find Minimum Cost</a:t>
            </a:r>
            <a:br/>
            <a:r>
              <a:rPr sz="1400" b="0"/>
              <a:t>for Each State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800600"/>
            <a:ext cx="20574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/>
              <a:t>Reconstruct &amp; Display</a:t>
            </a:r>
            <a:br/>
            <a:r>
              <a:rPr sz="1400" b="0"/>
              <a:t>Optimal Tour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2057400"/>
            <a:ext cx="20574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/>
              <a:t>Calculate Total</a:t>
            </a:r>
            <a:br/>
            <a:r>
              <a:rPr sz="1400" b="0"/>
              <a:t>Travel Cost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3337560"/>
            <a:ext cx="20574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/>
              <a:t>Visualize</a:t>
            </a:r>
            <a:br/>
            <a:r>
              <a:rPr sz="1400" b="0"/>
              <a:t>Route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4617720"/>
            <a:ext cx="2057400" cy="59436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1"/>
              <a:t>End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531620" y="1737360"/>
            <a:ext cx="0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531620" y="2651760"/>
            <a:ext cx="0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531620" y="3566160"/>
            <a:ext cx="0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531620" y="4480560"/>
            <a:ext cx="0" cy="32004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560320" y="5102352"/>
            <a:ext cx="397764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71231" y="2651760"/>
            <a:ext cx="0" cy="685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7571231" y="3931920"/>
            <a:ext cx="0" cy="6858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93965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Results</a:t>
            </a:r>
            <a:endParaRPr lang="en-US" sz="32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31520" y="1051560"/>
            <a:ext cx="107899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000" b="1"/>
              <a:t>Sample Input – Distance Matrix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645920"/>
          <a:ext cx="4572000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City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20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30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ctr"/>
                      <a:r>
                        <a:rPr sz="1500" b="1"/>
                        <a:t>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400800" y="1417320"/>
            <a:ext cx="4389120" cy="50292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100" b="1"/>
              <a:t>Output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965960"/>
            <a:ext cx="4480560" cy="201168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Minimum Tour: A → B → D → C → A</a:t>
            </a:r>
          </a:p>
          <a:p>
            <a:pPr>
              <a:spcAft>
                <a:spcPts val="800"/>
              </a:spcAft>
              <a:defRPr sz="1800"/>
            </a:pPr>
            <a:r>
              <a:t>Total Travel Cost: 80</a:t>
            </a:r>
          </a:p>
          <a:p>
            <a:pPr>
              <a:spcAft>
                <a:spcPts val="800"/>
              </a:spcAft>
              <a:defRPr sz="1800"/>
            </a:pPr>
            <a:r>
              <a:t>All cities are visited exactly once.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4069080"/>
            <a:ext cx="448056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700" b="1"/>
              <a:t>Route Visualization</a:t>
            </a:r>
            <a:br/>
            <a:r>
              <a:rPr sz="1700" b="1"/>
              <a:t>A ─→ B ─→ D ─→ C ─→ A</a:t>
            </a:r>
          </a:p>
        </p:txBody>
      </p:sp>
    </p:spTree>
    <p:extLst>
      <p:ext uri="{BB962C8B-B14F-4D97-AF65-F5344CB8AC3E}">
        <p14:creationId xmlns:p14="http://schemas.microsoft.com/office/powerpoint/2010/main" val="106092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654372" y="262038"/>
            <a:ext cx="6419945" cy="60395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547840" y="302403"/>
            <a:ext cx="68718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kern="0" dirty="0">
                <a:solidFill>
                  <a:schemeClr val="bg1"/>
                </a:solidFill>
                <a:effectLst/>
                <a:ea typeface="Times New Roman" panose="02020603050405020304" pitchFamily="18" charset="0"/>
              </a:rPr>
              <a:t>Hardware and Software requirements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45720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100" b="1"/>
              <a:t>Hardware Requirements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737360"/>
            <a:ext cx="4572000" cy="292608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Processor: Dual-core or above</a:t>
            </a:r>
          </a:p>
          <a:p>
            <a:pPr>
              <a:spcAft>
                <a:spcPts val="800"/>
              </a:spcAft>
              <a:defRPr sz="1800"/>
            </a:pPr>
            <a:r>
              <a:t>RAM: 4 GB or more</a:t>
            </a:r>
          </a:p>
          <a:p>
            <a:pPr>
              <a:spcAft>
                <a:spcPts val="800"/>
              </a:spcAft>
              <a:defRPr sz="1800"/>
            </a:pPr>
            <a:r>
              <a:t>Storage: 500 MB free space</a:t>
            </a:r>
          </a:p>
          <a:p>
            <a:pPr>
              <a:spcAft>
                <a:spcPts val="800"/>
              </a:spcAft>
              <a:defRPr sz="1800"/>
            </a:pPr>
            <a:r>
              <a:t>Display: Standard monitor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0" y="1234440"/>
            <a:ext cx="4572000" cy="457200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 algn="l"/>
            <a:r>
              <a:rPr sz="2100" b="1"/>
              <a:t>Software Requirements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0" y="1737360"/>
            <a:ext cx="4572000" cy="292608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800"/>
              </a:spcAft>
              <a:defRPr sz="1800"/>
            </a:pPr>
            <a:r>
              <a:t>Operating System: Windows / Linux / macOS</a:t>
            </a:r>
          </a:p>
          <a:p>
            <a:pPr>
              <a:spcAft>
                <a:spcPts val="800"/>
              </a:spcAft>
              <a:defRPr sz="1800"/>
            </a:pPr>
            <a:r>
              <a:t>Programming Language: Java</a:t>
            </a:r>
          </a:p>
          <a:p>
            <a:pPr>
              <a:spcAft>
                <a:spcPts val="800"/>
              </a:spcAft>
              <a:defRPr sz="1800"/>
            </a:pPr>
            <a:r>
              <a:t>IDE: IntelliJ IDEA / Eclipse / VS Code</a:t>
            </a:r>
          </a:p>
          <a:p>
            <a:pPr>
              <a:spcAft>
                <a:spcPts val="800"/>
              </a:spcAft>
              <a:defRPr sz="1800"/>
            </a:pPr>
            <a:r>
              <a:t>No java.util.* collections inside the algorithm engine</a:t>
            </a:r>
          </a:p>
        </p:txBody>
      </p:sp>
    </p:spTree>
    <p:extLst>
      <p:ext uri="{BB962C8B-B14F-4D97-AF65-F5344CB8AC3E}">
        <p14:creationId xmlns:p14="http://schemas.microsoft.com/office/powerpoint/2010/main" val="22927509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2660072" y="187903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10332720" cy="438912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The Bitmask TSP Route Planner finds an exact minimum-cost tour for a distance matrix.</a:t>
            </a:r>
          </a:p>
          <a:p>
            <a:pPr>
              <a:spcAft>
                <a:spcPts val="800"/>
              </a:spcAft>
              <a:defRPr sz="1900"/>
            </a:pPr>
            <a:r>
              <a:t>Bitmasking efficiently represents visited cities and DP avoids repeated calculations.</a:t>
            </a:r>
          </a:p>
          <a:p>
            <a:pPr>
              <a:spcAft>
                <a:spcPts val="800"/>
              </a:spcAft>
              <a:defRPr sz="1900"/>
            </a:pPr>
            <a:r>
              <a:t>The solution follows the syllabus topic of Bitmask DP with O(2ⁿ × n²) time complexity.</a:t>
            </a:r>
          </a:p>
          <a:p>
            <a:pPr>
              <a:spcAft>
                <a:spcPts val="800"/>
              </a:spcAft>
              <a:defRPr sz="1900"/>
            </a:pPr>
            <a:r>
              <a:t>The application provides both the optimal route and total travel cost, along with route visualization.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9" y="221673"/>
            <a:ext cx="4719782" cy="517236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660072" y="154134"/>
            <a:ext cx="687185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bg1"/>
                </a:solidFill>
              </a:rPr>
              <a:t> 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234440"/>
            <a:ext cx="10332720" cy="4480560"/>
          </a:xfrm>
          <a:prstGeom prst="rect">
            <a:avLst/>
          </a:prstGeom>
          <a:noFill/>
        </p:spPr>
        <p:txBody>
          <a:bodyPr wrap="square" lIns="73152" tIns="27432" rIns="45720" bIns="27432">
            <a:spAutoFit/>
          </a:bodyPr>
          <a:lstStyle/>
          <a:p>
            <a:pPr>
              <a:spcAft>
                <a:spcPts val="800"/>
              </a:spcAft>
              <a:defRPr sz="1900"/>
            </a:pPr>
            <a:r>
              <a:t>Support larger problem sizes using optimized or advanced TSP techniques.</a:t>
            </a:r>
          </a:p>
          <a:p>
            <a:pPr>
              <a:spcAft>
                <a:spcPts val="800"/>
              </a:spcAft>
              <a:defRPr sz="1900"/>
            </a:pPr>
            <a:r>
              <a:t>Add interactive map-based visualization for real-world locations.</a:t>
            </a:r>
          </a:p>
          <a:p>
            <a:pPr>
              <a:spcAft>
                <a:spcPts val="800"/>
              </a:spcAft>
              <a:defRPr sz="1900"/>
            </a:pPr>
            <a:r>
              <a:t>Allow users to load distance data from files.</a:t>
            </a:r>
          </a:p>
          <a:p>
            <a:pPr>
              <a:spcAft>
                <a:spcPts val="800"/>
              </a:spcAft>
              <a:defRPr sz="1900"/>
            </a:pPr>
            <a:r>
              <a:t>Compare exact Bitmask DP with approximation or heuristic methods.</a:t>
            </a:r>
          </a:p>
          <a:p>
            <a:pPr>
              <a:spcAft>
                <a:spcPts val="800"/>
              </a:spcAft>
              <a:defRPr sz="1900"/>
            </a:pPr>
            <a:r>
              <a:t>Extend the application with traffic, time, or other route constraints.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/>
          <p:cNvSpPr/>
          <p:nvPr/>
        </p:nvSpPr>
        <p:spPr>
          <a:xfrm>
            <a:off x="3736107" y="2619376"/>
            <a:ext cx="4946253" cy="135782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b="1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3135434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</TotalTime>
  <Words>706</Words>
  <Application>Microsoft Office PowerPoint</Application>
  <PresentationFormat>Widescreen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Times New Roman</vt:lpstr>
      <vt:lpstr>Office Theme</vt:lpstr>
      <vt:lpstr>Data Structures and Algorithms -3 (25CS2103E)  Bitmask TSP Route Planner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Sirisha Devi</dc:creator>
  <cp:lastModifiedBy>Chandra prakash Verma</cp:lastModifiedBy>
  <cp:revision>20</cp:revision>
  <dcterms:created xsi:type="dcterms:W3CDTF">2024-08-29T05:25:00Z</dcterms:created>
  <dcterms:modified xsi:type="dcterms:W3CDTF">2026-10-12T05:16:27Z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FB2A1F042FC047C6B4D7E0BF0C20B2E9_13</vt:lpwstr>
  </property>
  <property fmtid="{D5CDD505-2E9C-101B-9397-08002B2CF9AE}" pid="3" name="KSOProductBuildVer">
    <vt:lpwstr>1033-12.2.0.23131</vt:lpwstr>
  </property>
</Properties>
</file>